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9144000" cx="16256000"/>
  <p:notesSz cx="9144000" cy="16256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A92C0C-5A13-438B-BEC9-0930A9281948}">
  <a:tblStyle styleId="{02A92C0C-5A13-438B-BEC9-0930A92819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6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ac9f564b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ac9f564b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ac9f564b1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ac9f564b1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ac9f564b1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ac9f564b1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676975" y="655400"/>
            <a:ext cx="6350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ВЫПУСКНАЯ КВАЛИФИКАЦИОННАЯ РАБОТА</a:t>
            </a:r>
            <a:endParaRPr b="0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62000" y="2311400"/>
            <a:ext cx="1397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1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и проектирование модели по генерации сказок на основе идей Джозефа Кэмпбелла</a:t>
            </a:r>
            <a:r>
              <a:rPr lang="en-US" sz="3180">
                <a:solidFill>
                  <a:schemeClr val="dk1"/>
                </a:solidFill>
              </a:rPr>
              <a:t>. </a:t>
            </a:r>
            <a:endParaRPr b="0" i="0" sz="1600" u="none" cap="none" strike="noStrike"/>
          </a:p>
        </p:txBody>
      </p:sp>
      <p:sp>
        <p:nvSpPr>
          <p:cNvPr id="20" name="Google Shape;20;p4"/>
          <p:cNvSpPr/>
          <p:nvPr/>
        </p:nvSpPr>
        <p:spPr>
          <a:xfrm>
            <a:off x="762000" y="4521200"/>
            <a:ext cx="14732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5461000"/>
            <a:ext cx="16256000" cy="3683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62000" y="7290125"/>
            <a:ext cx="5079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171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Выполнил: Маковеев Никита Владимирович</a:t>
            </a:r>
            <a:endParaRPr sz="171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13716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171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171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Руководитель выпускной квалификационной работы: кандидат физико-математических наук, доцент, доцент кафедры ИТиЭО Власов Дмитрий Викторович</a:t>
            </a: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61950" y="6534113"/>
            <a:ext cx="63501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РГПУ им. А. И. ГЕРЦЕНА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842000" y="8509275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Санкт-Петербург 2026</a:t>
            </a:r>
            <a:endParaRPr b="0"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 Введение</a:t>
            </a:r>
            <a:endParaRPr b="0" i="0" sz="1600" u="none" cap="none" strike="noStrike"/>
          </a:p>
        </p:txBody>
      </p:sp>
      <p:sp>
        <p:nvSpPr>
          <p:cNvPr id="33" name="Google Shape;33;p5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Актуальность и проблематика</a:t>
            </a:r>
            <a:endParaRPr b="0" i="0" sz="2600" u="none" cap="none" strike="noStrike"/>
          </a:p>
        </p:txBody>
      </p:sp>
      <p:sp>
        <p:nvSpPr>
          <p:cNvPr id="34" name="Google Shape;34;p5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508000" y="1117600"/>
            <a:ext cx="7302500" cy="533400"/>
          </a:xfrm>
          <a:prstGeom prst="roundRect">
            <a:avLst>
              <a:gd fmla="val 4000" name="adj"/>
            </a:avLst>
          </a:prstGeom>
          <a:solidFill>
            <a:srgbClr val="8B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508000" y="1117600"/>
            <a:ext cx="730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Проблема</a:t>
            </a:r>
            <a:endParaRPr b="0" i="0" sz="1600" u="none" cap="none" strike="noStrike"/>
          </a:p>
        </p:txBody>
      </p:sp>
      <p:sp>
        <p:nvSpPr>
          <p:cNvPr id="37" name="Google Shape;37;p5"/>
          <p:cNvSpPr/>
          <p:nvPr/>
        </p:nvSpPr>
        <p:spPr>
          <a:xfrm>
            <a:off x="508000" y="1651000"/>
            <a:ext cx="7302500" cy="6350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857300" y="2006600"/>
            <a:ext cx="6603900" cy="4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Современные LLM: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Требуют значительных вычислительных ресурсов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Плохо контролируют структуру длинных нарративов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Не подходят для локального развертывания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Склонны к «галлюцинациям» на доменно-специфичных выборках</a:t>
            </a:r>
            <a:endParaRPr b="0" i="0" sz="18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Потеря структурной последовательности на длинных дистанциях</a:t>
            </a:r>
            <a:endParaRPr b="0" i="0" sz="1800" u="none" cap="none" strike="noStrike"/>
          </a:p>
        </p:txBody>
      </p:sp>
      <p:sp>
        <p:nvSpPr>
          <p:cNvPr id="39" name="Google Shape;39;p5"/>
          <p:cNvSpPr/>
          <p:nvPr/>
        </p:nvSpPr>
        <p:spPr>
          <a:xfrm>
            <a:off x="8445500" y="1117600"/>
            <a:ext cx="7302500" cy="5334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8445500" y="1117600"/>
            <a:ext cx="730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Решение</a:t>
            </a:r>
            <a:endParaRPr b="0" i="0" sz="16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8445500" y="1651000"/>
            <a:ext cx="7302500" cy="6350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8636100" y="1968450"/>
            <a:ext cx="6603900" cy="5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Специализированная SLM: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Обучение на корпусе из 2900+ сказок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Внедрение структуры Hero Journey (17 этапов)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Использование LoRA и QLoRA для эффективного дообучения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Локальное развертывание на CPU/GPU среднего класса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Контролируемая генерация через поэтапный алгоритм</a:t>
            </a:r>
            <a:endParaRPr b="0" i="0" sz="1800" u="none" cap="none" strike="noStrike"/>
          </a:p>
        </p:txBody>
      </p:sp>
      <p:sp>
        <p:nvSpPr>
          <p:cNvPr id="43" name="Google Shape;43;p5"/>
          <p:cNvSpPr/>
          <p:nvPr/>
        </p:nvSpPr>
        <p:spPr>
          <a:xfrm>
            <a:off x="508000" y="8077200"/>
            <a:ext cx="15240000" cy="457200"/>
          </a:xfrm>
          <a:prstGeom prst="roundRect">
            <a:avLst>
              <a:gd fmla="val 4000" name="adj"/>
            </a:avLst>
          </a:prstGeom>
          <a:solidFill>
            <a:srgbClr val="E3F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762000" y="8077200"/>
            <a:ext cx="1473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Цель:</a:t>
            </a:r>
            <a:r>
              <a:rPr b="0" i="0" lang="en-US" sz="15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разработка модели, генерирующей связные сказочные тексты по структуре мономифа Дж. Кэмпбелла</a:t>
            </a:r>
            <a:endParaRPr b="0" i="0" sz="1600" u="none" cap="none" strike="noStrike"/>
          </a:p>
        </p:txBody>
      </p:sp>
      <p:sp>
        <p:nvSpPr>
          <p:cNvPr id="45" name="Google Shape;45;p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Архитектура системы</a:t>
            </a:r>
            <a:endParaRPr b="0" i="0" sz="1600" u="none" cap="none" strike="noStrike"/>
          </a:p>
        </p:txBody>
      </p:sp>
      <p:sp>
        <p:nvSpPr>
          <p:cNvPr id="54" name="Google Shape;54;p6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Общая архитектура системы</a:t>
            </a:r>
            <a:endParaRPr b="0" i="0" sz="2600" u="none" cap="none" strike="noStrike"/>
          </a:p>
        </p:txBody>
      </p:sp>
      <p:sp>
        <p:nvSpPr>
          <p:cNvPr id="55" name="Google Shape;55;p6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508000" y="1168400"/>
            <a:ext cx="2794000" cy="1016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09600" y="1193800"/>
            <a:ext cx="25908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folk_tales_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deduplicated.csv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2900+ сказок</a:t>
            </a:r>
            <a:endParaRPr b="0" i="0" sz="1600" u="none" cap="none" strike="noStrike"/>
          </a:p>
        </p:txBody>
      </p:sp>
      <p:sp>
        <p:nvSpPr>
          <p:cNvPr id="58" name="Google Shape;58;p6"/>
          <p:cNvSpPr/>
          <p:nvPr/>
        </p:nvSpPr>
        <p:spPr>
          <a:xfrm>
            <a:off x="3403600" y="1549400"/>
            <a:ext cx="4572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3962400" y="1168400"/>
            <a:ext cx="2794000" cy="1016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4064000" y="1193800"/>
            <a:ext cx="25908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Предобработка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данных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Токенизация, блоки 512</a:t>
            </a:r>
            <a:endParaRPr b="0" i="0" sz="1600" u="none" cap="none" strike="noStrike"/>
          </a:p>
        </p:txBody>
      </p:sp>
      <p:sp>
        <p:nvSpPr>
          <p:cNvPr id="61" name="Google Shape;61;p6"/>
          <p:cNvSpPr/>
          <p:nvPr/>
        </p:nvSpPr>
        <p:spPr>
          <a:xfrm>
            <a:off x="6858000" y="1549400"/>
            <a:ext cx="4572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7416800" y="1168400"/>
            <a:ext cx="2794000" cy="10160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7518400" y="1193800"/>
            <a:ext cx="25908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GPT-2 Small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(124M params)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Базовая модель</a:t>
            </a:r>
            <a:endParaRPr b="0" i="0" sz="1600" u="none" cap="none" strike="noStrike"/>
          </a:p>
        </p:txBody>
      </p:sp>
      <p:sp>
        <p:nvSpPr>
          <p:cNvPr id="64" name="Google Shape;64;p6"/>
          <p:cNvSpPr/>
          <p:nvPr/>
        </p:nvSpPr>
        <p:spPr>
          <a:xfrm>
            <a:off x="10312400" y="1549400"/>
            <a:ext cx="4572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0871200" y="1168400"/>
            <a:ext cx="2794000" cy="1016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10972800" y="1193800"/>
            <a:ext cx="25908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Continual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Pretraining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5000 шагов, AdamW</a:t>
            </a:r>
            <a:endParaRPr b="0" i="0" sz="1600" u="none" cap="none" strike="noStrike"/>
          </a:p>
        </p:txBody>
      </p:sp>
      <p:sp>
        <p:nvSpPr>
          <p:cNvPr id="67" name="Google Shape;67;p6"/>
          <p:cNvSpPr/>
          <p:nvPr/>
        </p:nvSpPr>
        <p:spPr>
          <a:xfrm rot="5400000">
            <a:off x="12268200" y="2286000"/>
            <a:ext cx="2540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10871200" y="2844800"/>
            <a:ext cx="2794000" cy="1016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10972800" y="2870200"/>
            <a:ext cx="25908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folk_tales_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annotated.csv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515 примеров с тегами</a:t>
            </a:r>
            <a:endParaRPr b="0" i="0" sz="1600" u="none" cap="none" strike="noStrike"/>
          </a:p>
        </p:txBody>
      </p:sp>
      <p:sp>
        <p:nvSpPr>
          <p:cNvPr id="70" name="Google Shape;70;p6"/>
          <p:cNvSpPr/>
          <p:nvPr/>
        </p:nvSpPr>
        <p:spPr>
          <a:xfrm flipH="1">
            <a:off x="9855200" y="3225800"/>
            <a:ext cx="457200" cy="2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928525" y="2844800"/>
            <a:ext cx="2793900" cy="10161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7030125" y="2870200"/>
            <a:ext cx="2590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LoRA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Fine-Tuning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r=4, α=8, 200 шагов</a:t>
            </a:r>
            <a:endParaRPr b="0" i="0" sz="1600" u="none" cap="none" strike="noStrike"/>
          </a:p>
        </p:txBody>
      </p:sp>
      <p:sp>
        <p:nvSpPr>
          <p:cNvPr id="73" name="Google Shape;73;p6"/>
          <p:cNvSpPr/>
          <p:nvPr/>
        </p:nvSpPr>
        <p:spPr>
          <a:xfrm rot="5400000">
            <a:off x="8325425" y="3978875"/>
            <a:ext cx="2541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928475" y="4537625"/>
            <a:ext cx="2793900" cy="10161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030075" y="4563025"/>
            <a:ext cx="2590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Campbell Story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Generator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Поэтапная генерация</a:t>
            </a:r>
            <a:endParaRPr b="0" i="0" sz="1600" u="none" cap="none" strike="noStrike"/>
          </a:p>
        </p:txBody>
      </p:sp>
      <p:sp>
        <p:nvSpPr>
          <p:cNvPr id="76" name="Google Shape;76;p6"/>
          <p:cNvSpPr/>
          <p:nvPr/>
        </p:nvSpPr>
        <p:spPr>
          <a:xfrm rot="5400000">
            <a:off x="8325425" y="5655275"/>
            <a:ext cx="2541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928475" y="6214025"/>
            <a:ext cx="2793900" cy="1016100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030075" y="6239425"/>
            <a:ext cx="2590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Структурированная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сказка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7–9 этапов мономифа</a:t>
            </a:r>
            <a:endParaRPr b="0" i="0" sz="1600" u="none" cap="none" strike="noStrike"/>
          </a:p>
        </p:txBody>
      </p:sp>
      <p:sp>
        <p:nvSpPr>
          <p:cNvPr id="79" name="Google Shape;79;p6"/>
          <p:cNvSpPr/>
          <p:nvPr/>
        </p:nvSpPr>
        <p:spPr>
          <a:xfrm>
            <a:off x="508000" y="25400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Ключевые модули системы</a:t>
            </a:r>
            <a:endParaRPr b="0" i="0" sz="1600" u="none" cap="none" strike="noStrike"/>
          </a:p>
        </p:txBody>
      </p:sp>
      <p:sp>
        <p:nvSpPr>
          <p:cNvPr id="80" name="Google Shape;80;p6"/>
          <p:cNvSpPr/>
          <p:nvPr/>
        </p:nvSpPr>
        <p:spPr>
          <a:xfrm>
            <a:off x="508000" y="2946400"/>
            <a:ext cx="4572000" cy="25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08000" y="3149600"/>
            <a:ext cx="4572000" cy="4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Data Module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загрузка, очистка, токенизация корпуса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Model Module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GPT-2 Small с нуля (PyTorch)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Adaptation Module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кастомный LoRA через parametrization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Inference Module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температурное сэмплирование, Top-K, Top-P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Среда: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Kaggle Notebooks, GPU NVIDIA Tesla T4 (16 ГБ VRAM)</a:t>
            </a:r>
            <a:endParaRPr b="0" i="0" sz="1600" u="none" cap="none" strike="noStrike"/>
          </a:p>
        </p:txBody>
      </p:sp>
      <p:sp>
        <p:nvSpPr>
          <p:cNvPr id="82" name="Google Shape;82;p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Архитектура системы</a:t>
            </a:r>
            <a:endParaRPr b="0" i="0" sz="1600" u="none" cap="none" strike="noStrike"/>
          </a:p>
        </p:txBody>
      </p:sp>
      <p:sp>
        <p:nvSpPr>
          <p:cNvPr id="91" name="Google Shape;91;p7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Подготовка корпуса данных</a:t>
            </a:r>
            <a:endParaRPr b="0" i="0" sz="2600" u="none" cap="none" strike="noStrike"/>
          </a:p>
        </p:txBody>
      </p:sp>
      <p:sp>
        <p:nvSpPr>
          <p:cNvPr id="92" name="Google Shape;92;p7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08000" y="1092200"/>
            <a:ext cx="15240000" cy="889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1397000" y="1168400"/>
            <a:ext cx="14097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Корпус: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2900+ сказок различных культурных традиций (греческие, скандинавские, кельтские, русские) | Англоязычный корпус | Датасет: folk-tales-deduplicated.csv</a:t>
            </a:r>
            <a:endParaRPr b="0" i="0" sz="1600" u="none" cap="none" strike="noStrike"/>
          </a:p>
        </p:txBody>
      </p:sp>
      <p:sp>
        <p:nvSpPr>
          <p:cNvPr id="95" name="Google Shape;95;p7"/>
          <p:cNvSpPr/>
          <p:nvPr/>
        </p:nvSpPr>
        <p:spPr>
          <a:xfrm>
            <a:off x="508000" y="2235200"/>
            <a:ext cx="7366000" cy="5334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08000" y="2235200"/>
            <a:ext cx="736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Этап 1: Continual Pretraining</a:t>
            </a:r>
            <a:endParaRPr b="0" i="0" sz="1600" u="none" cap="none" strike="noStrike"/>
          </a:p>
        </p:txBody>
      </p:sp>
      <p:sp>
        <p:nvSpPr>
          <p:cNvPr id="97" name="Google Shape;97;p7"/>
          <p:cNvSpPr/>
          <p:nvPr/>
        </p:nvSpPr>
        <p:spPr>
          <a:xfrm>
            <a:off x="508000" y="2768600"/>
            <a:ext cx="7366000" cy="5334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62000" y="3048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 → Tokenization → Concatenation → Blocks (512) → NTP</a:t>
            </a:r>
            <a:endParaRPr b="0" i="0" sz="1600" u="none" cap="none" strike="noStrike"/>
          </a:p>
        </p:txBody>
      </p:sp>
      <p:sp>
        <p:nvSpPr>
          <p:cNvPr id="99" name="Google Shape;99;p7"/>
          <p:cNvSpPr/>
          <p:nvPr/>
        </p:nvSpPr>
        <p:spPr>
          <a:xfrm>
            <a:off x="1016000" y="3937000"/>
            <a:ext cx="635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762000" y="4140200"/>
            <a:ext cx="6858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Тексты конкатенируются в единую последовательность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Добавлен токен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&lt;|endoftext|&gt;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между сказками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Разбиение на блоки длиной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 = 512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токенов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Задача: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 Token Prediction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Пары (x, y), где y — сдвиг x на 1 токен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Без паддинга, высокий темп обучения</a:t>
            </a:r>
            <a:endParaRPr b="0" i="0" sz="1600" u="none" cap="none" strike="noStrike"/>
          </a:p>
        </p:txBody>
      </p:sp>
      <p:sp>
        <p:nvSpPr>
          <p:cNvPr id="101" name="Google Shape;101;p7"/>
          <p:cNvSpPr/>
          <p:nvPr/>
        </p:nvSpPr>
        <p:spPr>
          <a:xfrm>
            <a:off x="8382000" y="2235200"/>
            <a:ext cx="7366000" cy="5334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8382000" y="2235200"/>
            <a:ext cx="736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Этап 2: Instruction Fine-Tuning</a:t>
            </a:r>
            <a:endParaRPr b="0" i="0" sz="1600" u="none" cap="none" strike="noStrike"/>
          </a:p>
        </p:txBody>
      </p:sp>
      <p:sp>
        <p:nvSpPr>
          <p:cNvPr id="103" name="Google Shape;103;p7"/>
          <p:cNvSpPr/>
          <p:nvPr/>
        </p:nvSpPr>
        <p:spPr>
          <a:xfrm>
            <a:off x="8382000" y="2768600"/>
            <a:ext cx="7366000" cy="5334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8636000" y="3048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+ Target Story → labels = -100</a:t>
            </a:r>
            <a:endParaRPr b="0" i="0" sz="1600" u="none" cap="none" strike="noStrike"/>
          </a:p>
        </p:txBody>
      </p:sp>
      <p:sp>
        <p:nvSpPr>
          <p:cNvPr id="105" name="Google Shape;105;p7"/>
          <p:cNvSpPr/>
          <p:nvPr/>
        </p:nvSpPr>
        <p:spPr>
          <a:xfrm>
            <a:off x="8890000" y="3937000"/>
            <a:ext cx="635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8636000" y="4140200"/>
            <a:ext cx="6858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Два типа промптов: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Generation: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"Write a {nation} folktale called '{title}'"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Continuation: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контекст + продолжение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Маскирование промпта: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labels = -100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Исключение промпта из CrossEntropyLoss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Фокус на качестве генерации целевого текста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Приоритет сохранения целевого ответа</a:t>
            </a:r>
            <a:endParaRPr b="0" i="0" sz="1600" u="none" cap="none" strike="noStrike"/>
          </a:p>
        </p:txBody>
      </p:sp>
      <p:sp>
        <p:nvSpPr>
          <p:cNvPr id="107" name="Google Shape;107;p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Архитектура системы</a:t>
            </a:r>
            <a:endParaRPr b="0" i="0" sz="1600" u="none" cap="none" strike="noStrike"/>
          </a:p>
        </p:txBody>
      </p:sp>
      <p:sp>
        <p:nvSpPr>
          <p:cNvPr id="116" name="Google Shape;116;p8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Архитектура GPT-2 Small</a:t>
            </a:r>
            <a:endParaRPr b="0" i="0" sz="2600" u="none" cap="none" strike="noStrike"/>
          </a:p>
        </p:txBody>
      </p:sp>
      <p:sp>
        <p:nvSpPr>
          <p:cNvPr id="117" name="Google Shape;117;p8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08000" y="10922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Авторегрессионный трансформер декодерного типа</a:t>
            </a:r>
            <a:endParaRPr b="0" i="0" sz="1600" u="none" cap="none" strike="noStrike"/>
          </a:p>
        </p:txBody>
      </p:sp>
      <p:sp>
        <p:nvSpPr>
          <p:cNvPr id="119" name="Google Shape;119;p8"/>
          <p:cNvSpPr/>
          <p:nvPr/>
        </p:nvSpPr>
        <p:spPr>
          <a:xfrm>
            <a:off x="1016000" y="1651000"/>
            <a:ext cx="5080000" cy="508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1016000" y="1651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Tokens</a:t>
            </a:r>
            <a:endParaRPr b="0" i="0" sz="1600" u="none" cap="none" strike="noStrike"/>
          </a:p>
        </p:txBody>
      </p:sp>
      <p:sp>
        <p:nvSpPr>
          <p:cNvPr id="121" name="Google Shape;121;p8"/>
          <p:cNvSpPr/>
          <p:nvPr/>
        </p:nvSpPr>
        <p:spPr>
          <a:xfrm rot="5400000">
            <a:off x="3429000" y="2159000"/>
            <a:ext cx="254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1016000" y="2413000"/>
            <a:ext cx="5080000" cy="508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1016000" y="2413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 Layer (WTE + WPE)</a:t>
            </a:r>
            <a:endParaRPr b="0" i="0" sz="1600" u="none" cap="none" strike="noStrike"/>
          </a:p>
        </p:txBody>
      </p:sp>
      <p:sp>
        <p:nvSpPr>
          <p:cNvPr id="124" name="Google Shape;124;p8"/>
          <p:cNvSpPr/>
          <p:nvPr/>
        </p:nvSpPr>
        <p:spPr>
          <a:xfrm rot="5400000">
            <a:off x="3429000" y="2921000"/>
            <a:ext cx="254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016000" y="3175000"/>
            <a:ext cx="5080000" cy="10160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1016000" y="3175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Transformer Blocks x12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Self-Attention + MLP + LayerNorm</a:t>
            </a:r>
            <a:endParaRPr b="0" i="0" sz="1600" u="none" cap="none" strike="noStrike"/>
          </a:p>
        </p:txBody>
      </p:sp>
      <p:sp>
        <p:nvSpPr>
          <p:cNvPr id="127" name="Google Shape;127;p8"/>
          <p:cNvSpPr/>
          <p:nvPr/>
        </p:nvSpPr>
        <p:spPr>
          <a:xfrm rot="5400000">
            <a:off x="3429000" y="4191000"/>
            <a:ext cx="254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1016000" y="4445000"/>
            <a:ext cx="5080000" cy="508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016000" y="4445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LayerNorm</a:t>
            </a:r>
            <a:endParaRPr b="0" i="0" sz="1600" u="none" cap="none" strike="noStrike"/>
          </a:p>
        </p:txBody>
      </p:sp>
      <p:sp>
        <p:nvSpPr>
          <p:cNvPr id="130" name="Google Shape;130;p8"/>
          <p:cNvSpPr/>
          <p:nvPr/>
        </p:nvSpPr>
        <p:spPr>
          <a:xfrm rot="5400000">
            <a:off x="3429000" y="4953000"/>
            <a:ext cx="254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016000" y="5207000"/>
            <a:ext cx="5080000" cy="508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016000" y="5207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Head (LM Head)</a:t>
            </a:r>
            <a:endParaRPr b="0" i="0" sz="1600" u="none" cap="none" strike="noStrike"/>
          </a:p>
        </p:txBody>
      </p:sp>
      <p:sp>
        <p:nvSpPr>
          <p:cNvPr id="133" name="Google Shape;133;p8"/>
          <p:cNvSpPr/>
          <p:nvPr/>
        </p:nvSpPr>
        <p:spPr>
          <a:xfrm rot="5400000">
            <a:off x="3429000" y="5715000"/>
            <a:ext cx="254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016000" y="5969000"/>
            <a:ext cx="5080000" cy="508000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016000" y="5969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 Token Prediction</a:t>
            </a:r>
            <a:endParaRPr b="0" i="0" sz="1600" u="none" cap="none" strike="noStrike"/>
          </a:p>
        </p:txBody>
      </p:sp>
      <p:sp>
        <p:nvSpPr>
          <p:cNvPr id="136" name="Google Shape;136;p8"/>
          <p:cNvSpPr/>
          <p:nvPr/>
        </p:nvSpPr>
        <p:spPr>
          <a:xfrm>
            <a:off x="7366000" y="10922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Параметры модели</a:t>
            </a:r>
            <a:endParaRPr b="0" i="0" sz="1600" u="none" cap="none" strike="noStrike"/>
          </a:p>
        </p:txBody>
      </p:sp>
      <p:graphicFrame>
        <p:nvGraphicFramePr>
          <p:cNvPr id="137" name="Google Shape;137;p8"/>
          <p:cNvGraphicFramePr/>
          <p:nvPr/>
        </p:nvGraphicFramePr>
        <p:xfrm>
          <a:off x="7366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{02A92C0C-5A13-438B-BEC9-0930A9281948}</a:tableStyleId>
              </a:tblPr>
              <a:tblGrid>
                <a:gridCol w="4064000"/>
                <a:gridCol w="4064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Параметр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Значение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Layers (n_layer)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Hidden Size (n_embed)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768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Attention Heads (n_head)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Context Window (block_size)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512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Vocabulary Size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50 257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Total Parameters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~124M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8"/>
          <p:cNvSpPr/>
          <p:nvPr/>
        </p:nvSpPr>
        <p:spPr>
          <a:xfrm>
            <a:off x="7366000" y="5461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Механизмы регуляризации</a:t>
            </a:r>
            <a:endParaRPr b="0" i="0" sz="1600" u="none" cap="none" strike="noStrike"/>
          </a:p>
        </p:txBody>
      </p:sp>
      <p:sp>
        <p:nvSpPr>
          <p:cNvPr id="139" name="Google Shape;139;p8"/>
          <p:cNvSpPr/>
          <p:nvPr/>
        </p:nvSpPr>
        <p:spPr>
          <a:xfrm>
            <a:off x="7366000" y="5867400"/>
            <a:ext cx="3810000" cy="25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366000" y="6070600"/>
            <a:ext cx="8128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Dropout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(0.1) после слоев внимания и MLP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Активация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GELU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с аппроксимацией tanh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 tying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между входным эмбеддингом и выходным слоем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Реализовано «с нуля» на PyTorch</a:t>
            </a:r>
            <a:endParaRPr b="0" i="0" sz="1600" u="none" cap="none" strike="noStrike"/>
          </a:p>
        </p:txBody>
      </p:sp>
      <p:sp>
        <p:nvSpPr>
          <p:cNvPr id="141" name="Google Shape;141;p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Архитектура системы</a:t>
            </a:r>
            <a:endParaRPr b="0" i="0" sz="1600" u="none" cap="none" strike="noStrike"/>
          </a:p>
        </p:txBody>
      </p:sp>
      <p:sp>
        <p:nvSpPr>
          <p:cNvPr id="150" name="Google Shape;150;p9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Механизм LoRA</a:t>
            </a:r>
            <a:endParaRPr b="0" i="0" sz="2600" u="none" cap="none" strike="noStrike"/>
          </a:p>
        </p:txBody>
      </p:sp>
      <p:sp>
        <p:nvSpPr>
          <p:cNvPr id="151" name="Google Shape;151;p9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508000" y="1117600"/>
            <a:ext cx="15240000" cy="1270000"/>
          </a:xfrm>
          <a:prstGeom prst="roundRect">
            <a:avLst>
              <a:gd fmla="val 4000" name="adj"/>
            </a:avLst>
          </a:prstGeom>
          <a:solidFill>
            <a:srgbClr val="E3F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762000" y="11938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Low-Rank Adaptation</a:t>
            </a:r>
            <a:endParaRPr b="0" i="0" sz="1600" u="none" cap="none" strike="noStrike"/>
          </a:p>
        </p:txBody>
      </p:sp>
      <p:sp>
        <p:nvSpPr>
          <p:cNvPr id="154" name="Google Shape;154;p9"/>
          <p:cNvSpPr/>
          <p:nvPr/>
        </p:nvSpPr>
        <p:spPr>
          <a:xfrm>
            <a:off x="762000" y="1524000"/>
            <a:ext cx="14732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55" name="Google Shape;155;p9"/>
          <p:cNvSpPr/>
          <p:nvPr/>
        </p:nvSpPr>
        <p:spPr>
          <a:xfrm>
            <a:off x="508000" y="2667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Обозначения</a:t>
            </a:r>
            <a:endParaRPr b="0" i="0" sz="1600" u="none" cap="none" strike="noStrike"/>
          </a:p>
        </p:txBody>
      </p:sp>
      <p:sp>
        <p:nvSpPr>
          <p:cNvPr id="156" name="Google Shape;156;p9"/>
          <p:cNvSpPr/>
          <p:nvPr/>
        </p:nvSpPr>
        <p:spPr>
          <a:xfrm>
            <a:off x="508000" y="30988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замороженные веса исходной модели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∈ ℝ^(r×d_in) — обучаемая низкоранговая матрица (Kaiming init)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∈ ℝ^(d_out×r) — обучаемая низкоранговая матрица (нули)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 = 16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ранг декомпозиции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α = 32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коэффициент масштабирования</a:t>
            </a:r>
            <a:endParaRPr b="0" i="0" sz="1600" u="none" cap="none" strike="noStrike"/>
          </a:p>
        </p:txBody>
      </p:sp>
      <p:sp>
        <p:nvSpPr>
          <p:cNvPr id="157" name="Google Shape;157;p9"/>
          <p:cNvSpPr/>
          <p:nvPr/>
        </p:nvSpPr>
        <p:spPr>
          <a:xfrm>
            <a:off x="8890000" y="2667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Результат</a:t>
            </a:r>
            <a:endParaRPr b="0" i="0" sz="1600" u="none" cap="none" strike="noStrike"/>
          </a:p>
        </p:txBody>
      </p:sp>
      <p:sp>
        <p:nvSpPr>
          <p:cNvPr id="158" name="Google Shape;158;p9"/>
          <p:cNvSpPr/>
          <p:nvPr/>
        </p:nvSpPr>
        <p:spPr>
          <a:xfrm>
            <a:off x="8890000" y="3175000"/>
            <a:ext cx="3048000" cy="1016000"/>
          </a:xfrm>
          <a:prstGeom prst="roundRect">
            <a:avLst>
              <a:gd fmla="val 4000" name="adj"/>
            </a:avLst>
          </a:prstGeom>
          <a:solidFill>
            <a:srgbClr val="8B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8890000" y="31750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124M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все параметры</a:t>
            </a:r>
            <a:endParaRPr b="0" i="0" sz="1600" u="none" cap="none" strike="noStrike"/>
          </a:p>
        </p:txBody>
      </p:sp>
      <p:sp>
        <p:nvSpPr>
          <p:cNvPr id="160" name="Google Shape;160;p9"/>
          <p:cNvSpPr/>
          <p:nvPr/>
        </p:nvSpPr>
        <p:spPr>
          <a:xfrm>
            <a:off x="12065000" y="3556000"/>
            <a:ext cx="762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12954000" y="3175000"/>
            <a:ext cx="2794000" cy="1016000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2954000" y="3175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~0.5M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обучаемых (&lt;1%)</a:t>
            </a:r>
            <a:endParaRPr b="0" i="0" sz="1600" u="none" cap="none" strike="noStrike"/>
          </a:p>
        </p:txBody>
      </p:sp>
      <p:sp>
        <p:nvSpPr>
          <p:cNvPr id="163" name="Google Shape;163;p9"/>
          <p:cNvSpPr/>
          <p:nvPr/>
        </p:nvSpPr>
        <p:spPr>
          <a:xfrm>
            <a:off x="508000" y="5715000"/>
            <a:ext cx="15240000" cy="2413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62000" y="58674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Преимущества реализации</a:t>
            </a:r>
            <a:endParaRPr b="0" i="0" sz="1600" u="none" cap="none" strike="noStrike"/>
          </a:p>
        </p:txBody>
      </p:sp>
      <p:sp>
        <p:nvSpPr>
          <p:cNvPr id="165" name="Google Shape;165;p9"/>
          <p:cNvSpPr/>
          <p:nvPr/>
        </p:nvSpPr>
        <p:spPr>
          <a:xfrm>
            <a:off x="762000" y="6324600"/>
            <a:ext cx="14732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Реализация через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torch.nn.utils.parametrize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динамическое включение/отключение адаптеров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Применяется к линейным слоям в блоках внимания (c_attn, c_proj) и MLP (c_fc, c_proj)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Инициализация A — Kaiming Uniform, B — нули (обеспечивает ΔW = 0 на старте)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Снижение потребления VRAM на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70–90%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при сохранении качества генерации</a:t>
            </a:r>
            <a:endParaRPr b="0" i="0" sz="1600" u="none" cap="none" strike="noStrike"/>
          </a:p>
        </p:txBody>
      </p:sp>
      <p:sp>
        <p:nvSpPr>
          <p:cNvPr id="166" name="Google Shape;166;p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600" u="none" cap="none" strike="noStrike"/>
          </a:p>
        </p:txBody>
      </p:sp>
      <p:pic>
        <p:nvPicPr>
          <p:cNvPr id="167" name="Google Shape;16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527" y="1562100"/>
            <a:ext cx="3670935" cy="5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Обучение</a:t>
            </a:r>
            <a:endParaRPr b="0" i="0" sz="1600" u="none" cap="none" strike="noStrike"/>
          </a:p>
        </p:txBody>
      </p:sp>
      <p:sp>
        <p:nvSpPr>
          <p:cNvPr id="176" name="Google Shape;176;p10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Протокол обучения</a:t>
            </a:r>
            <a:endParaRPr b="0" i="0" sz="2600" u="none" cap="none" strike="noStrike"/>
          </a:p>
        </p:txBody>
      </p:sp>
      <p:sp>
        <p:nvSpPr>
          <p:cNvPr id="177" name="Google Shape;177;p10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508000" y="1117600"/>
            <a:ext cx="7366000" cy="5334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508000" y="1117600"/>
            <a:ext cx="736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Стадия 1: Базовое дообучение</a:t>
            </a:r>
            <a:endParaRPr b="0" i="0" sz="1600" u="none" cap="none" strike="noStrike"/>
          </a:p>
        </p:txBody>
      </p:sp>
      <p:graphicFrame>
        <p:nvGraphicFramePr>
          <p:cNvPr id="180" name="Google Shape;180;p10"/>
          <p:cNvGraphicFramePr/>
          <p:nvPr/>
        </p:nvGraphicFramePr>
        <p:xfrm>
          <a:off x="508000" y="177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{02A92C0C-5A13-438B-BEC9-0930A9281948}</a:tableStyleId>
              </a:tblPr>
              <a:tblGrid>
                <a:gridCol w="3314700"/>
                <a:gridCol w="405130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Параметр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Значение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Оптимизатор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AdamW (β₁=0.9, β₂=0.95)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Learning Rate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6×10⁻⁴ (cosine decay)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Batch Size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524 288 токенов эффективный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Precision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FP16 (AMP)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Tesla T4 (16 ГБ VRAM)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Шаги обучения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5000 (остановка на 2400)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Loss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~10.66 → ~0.29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0"/>
          <p:cNvSpPr/>
          <p:nvPr/>
        </p:nvSpPr>
        <p:spPr>
          <a:xfrm>
            <a:off x="8382000" y="1117600"/>
            <a:ext cx="7366000" cy="5334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8382000" y="1117600"/>
            <a:ext cx="736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Стадия 2: LoRA Fine-Tuning</a:t>
            </a:r>
            <a:endParaRPr b="0" i="0" sz="1600" u="none" cap="none" strike="noStrike"/>
          </a:p>
        </p:txBody>
      </p:sp>
      <p:graphicFrame>
        <p:nvGraphicFramePr>
          <p:cNvPr id="183" name="Google Shape;183;p10"/>
          <p:cNvGraphicFramePr/>
          <p:nvPr/>
        </p:nvGraphicFramePr>
        <p:xfrm>
          <a:off x="8382000" y="177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{02A92C0C-5A13-438B-BEC9-0930A9281948}</a:tableStyleId>
              </a:tblPr>
              <a:tblGrid>
                <a:gridCol w="3314700"/>
                <a:gridCol w="4051300"/>
              </a:tblGrid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Параметр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Значение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LoRA Rank (r)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Alpha (α)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Learning Rate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5×10⁻⁵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Шаги обучения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200 (чекпоинты каждые 50)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Batch Size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 (с аккумуляцией)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Warm-up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 шагов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Loss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~10.7 → ~4.5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10"/>
          <p:cNvSpPr/>
          <p:nvPr/>
        </p:nvSpPr>
        <p:spPr>
          <a:xfrm>
            <a:off x="508000" y="5943600"/>
            <a:ext cx="15240000" cy="2286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62000" y="60960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Базовое обучение: динамика</a:t>
            </a:r>
            <a:endParaRPr b="0" i="0" sz="1600" u="none" cap="none" strike="noStrike"/>
          </a:p>
        </p:txBody>
      </p:sp>
      <p:sp>
        <p:nvSpPr>
          <p:cNvPr id="186" name="Google Shape;186;p10"/>
          <p:cNvSpPr/>
          <p:nvPr/>
        </p:nvSpPr>
        <p:spPr>
          <a:xfrm>
            <a:off x="762000" y="6477000"/>
            <a:ext cx="6858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0: бессвязный набор слов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1000: грамматически правильные предложения, сказочные клише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2000: длинный контекст, прямая речь, жанровая стилистика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2400: плато, остановка для предотвращения переобучения</a:t>
            </a:r>
            <a:endParaRPr b="0" i="0" sz="1600" u="none" cap="none" strike="noStrike"/>
          </a:p>
        </p:txBody>
      </p:sp>
      <p:sp>
        <p:nvSpPr>
          <p:cNvPr id="187" name="Google Shape;187;p10"/>
          <p:cNvSpPr/>
          <p:nvPr/>
        </p:nvSpPr>
        <p:spPr>
          <a:xfrm>
            <a:off x="7874000" y="6096000"/>
            <a:ext cx="12700" cy="190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382000" y="60960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Fine-Tuning: динамика</a:t>
            </a:r>
            <a:endParaRPr b="0" i="0" sz="1600" u="none" cap="none" strike="noStrike"/>
          </a:p>
        </p:txBody>
      </p:sp>
      <p:sp>
        <p:nvSpPr>
          <p:cNvPr id="189" name="Google Shape;189;p10"/>
          <p:cNvSpPr/>
          <p:nvPr/>
        </p:nvSpPr>
        <p:spPr>
          <a:xfrm>
            <a:off x="8382000" y="6477000"/>
            <a:ext cx="6858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0: 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слабая структура. не выдерживает сюжет.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50–100: жанровые клише, 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появляется </a:t>
            </a: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зацикливания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Step 150–199: 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появляется структура</a:t>
            </a: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структуре.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Результат: 7–9 этапов мономифа, 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много </a:t>
            </a: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повторов.</a:t>
            </a:r>
            <a:endParaRPr b="0" i="0" sz="1600" u="none" cap="none" strike="noStrike"/>
          </a:p>
        </p:txBody>
      </p:sp>
      <p:sp>
        <p:nvSpPr>
          <p:cNvPr id="190" name="Google Shape;190;p1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325" y="1530125"/>
            <a:ext cx="9105100" cy="58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Обучение</a:t>
            </a:r>
            <a:endParaRPr b="0" i="0" sz="1600" u="none" cap="none" strike="noStrike"/>
          </a:p>
        </p:txBody>
      </p:sp>
      <p:sp>
        <p:nvSpPr>
          <p:cNvPr id="205" name="Google Shape;205;p12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Улучшения обучения</a:t>
            </a:r>
            <a:endParaRPr b="0" i="0" sz="2600" u="none" cap="none" strike="noStrike"/>
          </a:p>
        </p:txBody>
      </p:sp>
      <p:sp>
        <p:nvSpPr>
          <p:cNvPr id="206" name="Google Shape;206;p12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508000" y="1117600"/>
            <a:ext cx="15240000" cy="762000"/>
          </a:xfrm>
          <a:prstGeom prst="roundRect">
            <a:avLst>
              <a:gd fmla="val 4000" name="adj"/>
            </a:avLst>
          </a:prstGeom>
          <a:solidFill>
            <a:srgbClr val="FBE3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1320800" y="1117600"/>
            <a:ext cx="14173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3A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Проблема:</a:t>
            </a:r>
            <a:r>
              <a:rPr b="0" i="0" lang="en-US" sz="1600" u="none" cap="none" strike="noStrike">
                <a:solidFill>
                  <a:srgbClr val="8B3A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характерное для малых моделей зацикливание (text repetition) — многократное повторение одних и тех же фраз или токенов при генерации</a:t>
            </a:r>
            <a:endParaRPr b="0" i="0" sz="1600" u="none" cap="none" strike="noStrike"/>
          </a:p>
        </p:txBody>
      </p:sp>
      <p:sp>
        <p:nvSpPr>
          <p:cNvPr id="209" name="Google Shape;209;p12"/>
          <p:cNvSpPr/>
          <p:nvPr/>
        </p:nvSpPr>
        <p:spPr>
          <a:xfrm>
            <a:off x="508000" y="2159000"/>
            <a:ext cx="15240000" cy="1016000"/>
          </a:xfrm>
          <a:prstGeom prst="roundRect">
            <a:avLst>
              <a:gd fmla="val 4000" name="adj"/>
            </a:avLst>
          </a:prstGeom>
          <a:solidFill>
            <a:srgbClr val="E3F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762000" y="2235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Модифицированная функция потерь</a:t>
            </a:r>
            <a:endParaRPr b="0" i="0" sz="1600" u="none" cap="none" strike="noStrike"/>
          </a:p>
        </p:txBody>
      </p:sp>
      <p:sp>
        <p:nvSpPr>
          <p:cNvPr id="211" name="Google Shape;211;p12"/>
          <p:cNvSpPr/>
          <p:nvPr/>
        </p:nvSpPr>
        <p:spPr>
          <a:xfrm>
            <a:off x="508000" y="3479800"/>
            <a:ext cx="4826000" cy="2921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508000" y="3479800"/>
            <a:ext cx="4826000" cy="508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08000" y="34798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Repetition Penalty Loss</a:t>
            </a:r>
            <a:endParaRPr b="0" i="0" sz="1600" u="none" cap="none" strike="noStrike"/>
          </a:p>
        </p:txBody>
      </p:sp>
      <p:sp>
        <p:nvSpPr>
          <p:cNvPr id="214" name="Google Shape;214;p12"/>
          <p:cNvSpPr/>
          <p:nvPr/>
        </p:nvSpPr>
        <p:spPr>
          <a:xfrm>
            <a:off x="711200" y="4140200"/>
            <a:ext cx="44196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Анализ вероятностного распределения в скользящем окне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Окно: 25 токенов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λ = 2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(подобрано эмпирически)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Штраф за высокую вероятность уже встречавшихся токенов</a:t>
            </a:r>
            <a:endParaRPr b="0" i="0" sz="1600" u="none" cap="none" strike="noStrike"/>
          </a:p>
        </p:txBody>
      </p:sp>
      <p:sp>
        <p:nvSpPr>
          <p:cNvPr id="215" name="Google Shape;215;p12"/>
          <p:cNvSpPr/>
          <p:nvPr/>
        </p:nvSpPr>
        <p:spPr>
          <a:xfrm>
            <a:off x="5715000" y="3479800"/>
            <a:ext cx="4826000" cy="2921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5715000" y="3479800"/>
            <a:ext cx="4826000" cy="508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5715000" y="34798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Аннотированный корпус</a:t>
            </a:r>
            <a:endParaRPr b="0" i="0" sz="1600" u="none" cap="none" strike="noStrike"/>
          </a:p>
        </p:txBody>
      </p:sp>
      <p:sp>
        <p:nvSpPr>
          <p:cNvPr id="218" name="Google Shape;218;p12"/>
          <p:cNvSpPr/>
          <p:nvPr/>
        </p:nvSpPr>
        <p:spPr>
          <a:xfrm>
            <a:off x="5918200" y="4140200"/>
            <a:ext cx="44196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Переход к folk_tales_annotated.csv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515 примеров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со встроенными тегами этапов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Формат: TITLE + текст с тегами &lt;stage_...&gt;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Маскирование инструкции в loss (ignore_index=-100)</a:t>
            </a:r>
            <a:endParaRPr b="0" i="0" sz="1600" u="none" cap="none" strike="noStrike"/>
          </a:p>
        </p:txBody>
      </p:sp>
      <p:sp>
        <p:nvSpPr>
          <p:cNvPr id="219" name="Google Shape;219;p12"/>
          <p:cNvSpPr/>
          <p:nvPr/>
        </p:nvSpPr>
        <p:spPr>
          <a:xfrm>
            <a:off x="10922000" y="3479800"/>
            <a:ext cx="4826000" cy="29210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0922000" y="3479800"/>
            <a:ext cx="4826000" cy="5080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0922000" y="34798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Гиперпараметры LoRA</a:t>
            </a:r>
            <a:endParaRPr b="0" i="0" sz="1600" u="none" cap="none" strike="noStrike"/>
          </a:p>
        </p:txBody>
      </p:sp>
      <p:sp>
        <p:nvSpPr>
          <p:cNvPr id="222" name="Google Shape;222;p12"/>
          <p:cNvSpPr/>
          <p:nvPr/>
        </p:nvSpPr>
        <p:spPr>
          <a:xfrm>
            <a:off x="11125200" y="4140200"/>
            <a:ext cx="44196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Ранг снижен: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 = 4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(vs 16 ранее)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Масштаб: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α = 8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LR: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5×10⁻⁵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(в 6 раз ниже базового)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200 шагов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с ранним сохранением чекпоинтов</a:t>
            </a:r>
            <a:endParaRPr b="0" i="0" sz="1600" u="none" cap="none" strike="noStrike"/>
          </a:p>
        </p:txBody>
      </p:sp>
      <p:sp>
        <p:nvSpPr>
          <p:cNvPr id="223" name="Google Shape;223;p12"/>
          <p:cNvSpPr/>
          <p:nvPr/>
        </p:nvSpPr>
        <p:spPr>
          <a:xfrm>
            <a:off x="508000" y="6731000"/>
            <a:ext cx="15240000" cy="1397000"/>
          </a:xfrm>
          <a:prstGeom prst="roundRect">
            <a:avLst>
              <a:gd fmla="val 4000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1320800" y="6908800"/>
            <a:ext cx="14173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Результат:</a:t>
            </a:r>
            <a:r>
              <a:rPr b="0" i="0" lang="en-US" sz="16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комбинация параметрически эффективной настройки, специализированной функции потерь и внешнего структурного контроля позволяет компенсировать ограниченную емкость малой языковой модели и достичь качественного уровня управляемой генерации.</a:t>
            </a:r>
            <a:endParaRPr b="0" i="0" sz="1600" u="none" cap="none" strike="noStrike"/>
          </a:p>
        </p:txBody>
      </p:sp>
      <p:sp>
        <p:nvSpPr>
          <p:cNvPr id="225" name="Google Shape;225;p12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1600" u="none" cap="none" strike="noStrike"/>
          </a:p>
        </p:txBody>
      </p:sp>
      <p:pic>
        <p:nvPicPr>
          <p:cNvPr id="226" name="Google Shape;22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775" y="2686050"/>
            <a:ext cx="56864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Обучение</a:t>
            </a:r>
            <a:endParaRPr b="0" i="0" sz="1600" u="none" cap="none" strike="noStrike"/>
          </a:p>
        </p:txBody>
      </p:sp>
      <p:sp>
        <p:nvSpPr>
          <p:cNvPr id="235" name="Google Shape;235;p1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Алгоритм поэтапной генерации Campbell Story</a:t>
            </a:r>
            <a:endParaRPr b="0" i="0" sz="2600" u="none" cap="none" strike="noStrike"/>
          </a:p>
        </p:txBody>
      </p:sp>
      <p:sp>
        <p:nvSpPr>
          <p:cNvPr id="236" name="Google Shape;236;p13"/>
          <p:cNvSpPr/>
          <p:nvPr/>
        </p:nvSpPr>
        <p:spPr>
          <a:xfrm>
            <a:off x="508000" y="4572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Макрофазы мономифа</a:t>
            </a:r>
            <a:endParaRPr b="0" i="0" sz="1600" u="none" cap="none" strike="noStrike"/>
          </a:p>
        </p:txBody>
      </p:sp>
      <p:sp>
        <p:nvSpPr>
          <p:cNvPr id="237" name="Google Shape;237;p13"/>
          <p:cNvSpPr/>
          <p:nvPr/>
        </p:nvSpPr>
        <p:spPr>
          <a:xfrm>
            <a:off x="508000" y="4978400"/>
            <a:ext cx="254000" cy="254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863600" y="49530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Отправление (этапы 1–5)</a:t>
            </a:r>
            <a:endParaRPr b="0" i="0" sz="1600" u="none" cap="none" strike="noStrike"/>
          </a:p>
        </p:txBody>
      </p:sp>
      <p:sp>
        <p:nvSpPr>
          <p:cNvPr id="239" name="Google Shape;239;p13"/>
          <p:cNvSpPr/>
          <p:nvPr/>
        </p:nvSpPr>
        <p:spPr>
          <a:xfrm>
            <a:off x="3556000" y="4978400"/>
            <a:ext cx="254000" cy="254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3911600" y="49530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Инициация (этапы 6–10)</a:t>
            </a:r>
            <a:endParaRPr b="0" i="0" sz="1600" u="none" cap="none" strike="noStrike"/>
          </a:p>
        </p:txBody>
      </p:sp>
      <p:sp>
        <p:nvSpPr>
          <p:cNvPr id="241" name="Google Shape;241;p13"/>
          <p:cNvSpPr/>
          <p:nvPr/>
        </p:nvSpPr>
        <p:spPr>
          <a:xfrm>
            <a:off x="6604000" y="4978400"/>
            <a:ext cx="254000" cy="2540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959600" y="49530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Возвращение (этапы 11–17)</a:t>
            </a:r>
            <a:endParaRPr b="0" i="0" sz="1600" u="none" cap="none" strike="noStrike"/>
          </a:p>
        </p:txBody>
      </p:sp>
      <p:sp>
        <p:nvSpPr>
          <p:cNvPr id="243" name="Google Shape;243;p13"/>
          <p:cNvSpPr/>
          <p:nvPr/>
        </p:nvSpPr>
        <p:spPr>
          <a:xfrm>
            <a:off x="508000" y="5461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Алгоритм generate_campbell_story</a:t>
            </a:r>
            <a:endParaRPr b="0" i="0" sz="1600" u="none" cap="none" strike="noStrike"/>
          </a:p>
        </p:txBody>
      </p:sp>
      <p:sp>
        <p:nvSpPr>
          <p:cNvPr id="244" name="Google Shape;244;p13"/>
          <p:cNvSpPr/>
          <p:nvPr/>
        </p:nvSpPr>
        <p:spPr>
          <a:xfrm>
            <a:off x="508000" y="5816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508000" y="5969000"/>
            <a:ext cx="1524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Задана фиксированная последовательность этапов мономифа (Зов → Отказ → Помощь → Порог → ... → Финал)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На каждой итерации к контексту принудительно добавляется токен текущего этапа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Модель генерирует фрагмент текста заданной длины (50–150 токенов)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Постобработка: удаление дублирующего токена следующего этапа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Фрагмент конкатенируется с контекстом, цикл повторяется для следующей фазы</a:t>
            </a:r>
            <a:endParaRPr b="0" i="0" sz="1600" u="none" cap="none" strike="noStrike"/>
          </a:p>
        </p:txBody>
      </p:sp>
      <p:sp>
        <p:nvSpPr>
          <p:cNvPr id="246" name="Google Shape;246;p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0" i="0" sz="1600" u="none" cap="none" strike="noStrike"/>
          </a:p>
        </p:txBody>
      </p:sp>
      <p:pic>
        <p:nvPicPr>
          <p:cNvPr id="247" name="Google Shape;24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375" y="841305"/>
            <a:ext cx="3775225" cy="379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Сравнение</a:t>
            </a:r>
            <a:endParaRPr b="0" i="0" sz="1600" u="none" cap="none" strike="noStrike"/>
          </a:p>
        </p:txBody>
      </p:sp>
      <p:sp>
        <p:nvSpPr>
          <p:cNvPr id="256" name="Google Shape;256;p14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Архитектура QLoRA для Qwen2.5</a:t>
            </a:r>
            <a:endParaRPr b="0" i="0" sz="2600" u="none" cap="none" strike="noStrike"/>
          </a:p>
        </p:txBody>
      </p:sp>
      <p:sp>
        <p:nvSpPr>
          <p:cNvPr id="257" name="Google Shape;257;p1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508000" y="10922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Схема дообучения Qwen2.5-7B-Instruct</a:t>
            </a:r>
            <a:endParaRPr b="0" i="0" sz="1600" u="none" cap="none" strike="noStrike"/>
          </a:p>
        </p:txBody>
      </p:sp>
      <p:sp>
        <p:nvSpPr>
          <p:cNvPr id="259" name="Google Shape;259;p14"/>
          <p:cNvSpPr/>
          <p:nvPr/>
        </p:nvSpPr>
        <p:spPr>
          <a:xfrm>
            <a:off x="1016000" y="1651000"/>
            <a:ext cx="2540000" cy="762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1016000" y="1651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Qwen2.5-7B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~7.78 млрд параметров</a:t>
            </a:r>
            <a:endParaRPr b="0" i="0" sz="1600" u="none" cap="none" strike="noStrike"/>
          </a:p>
        </p:txBody>
      </p:sp>
      <p:sp>
        <p:nvSpPr>
          <p:cNvPr id="261" name="Google Shape;261;p14"/>
          <p:cNvSpPr/>
          <p:nvPr/>
        </p:nvSpPr>
        <p:spPr>
          <a:xfrm>
            <a:off x="3657600" y="1905000"/>
            <a:ext cx="508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4318000" y="1651000"/>
            <a:ext cx="2540000" cy="762000"/>
          </a:xfrm>
          <a:prstGeom prst="roundRect">
            <a:avLst>
              <a:gd fmla="val 4000" name="adj"/>
            </a:avLst>
          </a:prstGeom>
          <a:solidFill>
            <a:srgbClr val="8B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4318000" y="1651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4-bit Quantization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NF4 (Normalized Float 4)</a:t>
            </a:r>
            <a:endParaRPr b="0" i="0" sz="1600" u="none" cap="none" strike="noStrike"/>
          </a:p>
        </p:txBody>
      </p:sp>
      <p:sp>
        <p:nvSpPr>
          <p:cNvPr id="264" name="Google Shape;264;p14"/>
          <p:cNvSpPr/>
          <p:nvPr/>
        </p:nvSpPr>
        <p:spPr>
          <a:xfrm>
            <a:off x="6959600" y="1905000"/>
            <a:ext cx="508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7620000" y="1651000"/>
            <a:ext cx="2540000" cy="762000"/>
          </a:xfrm>
          <a:prstGeom prst="roundRect">
            <a:avLst>
              <a:gd fmla="val 4000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7620000" y="1651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Frozen Weights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Квантованные веса</a:t>
            </a:r>
            <a:endParaRPr b="0" i="0" sz="1600" u="none" cap="none" strike="noStrike"/>
          </a:p>
        </p:txBody>
      </p:sp>
      <p:sp>
        <p:nvSpPr>
          <p:cNvPr id="267" name="Google Shape;267;p14"/>
          <p:cNvSpPr/>
          <p:nvPr/>
        </p:nvSpPr>
        <p:spPr>
          <a:xfrm>
            <a:off x="10261600" y="1905000"/>
            <a:ext cx="508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10922000" y="1651000"/>
            <a:ext cx="2540000" cy="7620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10922000" y="1651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LoRA Adapters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r=64, α=128</a:t>
            </a:r>
            <a:endParaRPr b="0" i="0" sz="1600" u="none" cap="none" strike="noStrike"/>
          </a:p>
        </p:txBody>
      </p:sp>
      <p:sp>
        <p:nvSpPr>
          <p:cNvPr id="270" name="Google Shape;270;p14"/>
          <p:cNvSpPr/>
          <p:nvPr/>
        </p:nvSpPr>
        <p:spPr>
          <a:xfrm>
            <a:off x="13563600" y="1905000"/>
            <a:ext cx="5080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14224000" y="1651000"/>
            <a:ext cx="1524000" cy="762000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14224000" y="16510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Fine-Tuned</a:t>
            </a:r>
            <a:endParaRPr b="0" i="0" sz="16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</a:t>
            </a:r>
            <a:endParaRPr b="0" i="0" sz="1600" u="none" cap="none" strike="noStrike"/>
          </a:p>
        </p:txBody>
      </p:sp>
      <p:sp>
        <p:nvSpPr>
          <p:cNvPr id="273" name="Google Shape;273;p14"/>
          <p:cNvSpPr/>
          <p:nvPr/>
        </p:nvSpPr>
        <p:spPr>
          <a:xfrm>
            <a:off x="508000" y="2794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Параметры QLoRA</a:t>
            </a:r>
            <a:endParaRPr b="0" i="0" sz="1600" u="none" cap="none" strike="noStrike"/>
          </a:p>
        </p:txBody>
      </p:sp>
      <p:graphicFrame>
        <p:nvGraphicFramePr>
          <p:cNvPr id="274" name="Google Shape;274;p14"/>
          <p:cNvGraphicFramePr/>
          <p:nvPr/>
        </p:nvGraphicFramePr>
        <p:xfrm>
          <a:off x="5080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{02A92C0C-5A13-438B-BEC9-0930A9281948}</a:tableStyleId>
              </a:tblPr>
              <a:tblGrid>
                <a:gridCol w="3810000"/>
                <a:gridCol w="3810000"/>
              </a:tblGrid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Параметр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Значение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LoRA Rank (r)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Alpha (α)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128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Dropout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0.05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Target Modules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q,k,v,o_proj + MLP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Quantization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4-bit NF4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Обучаемые параметры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~161.5M (~2.08%)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VRAM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~11.5–12.5 ГБ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14"/>
          <p:cNvSpPr/>
          <p:nvPr/>
        </p:nvSpPr>
        <p:spPr>
          <a:xfrm>
            <a:off x="8890000" y="2794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Детали обучения</a:t>
            </a:r>
            <a:endParaRPr b="0" i="0" sz="1600" u="none" cap="none" strike="noStrike"/>
          </a:p>
        </p:txBody>
      </p:sp>
      <p:sp>
        <p:nvSpPr>
          <p:cNvPr id="276" name="Google Shape;276;p14"/>
          <p:cNvSpPr/>
          <p:nvPr/>
        </p:nvSpPr>
        <p:spPr>
          <a:xfrm>
            <a:off x="8890000" y="3200400"/>
            <a:ext cx="3810000" cy="25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8890000" y="3378200"/>
            <a:ext cx="6858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Библиотека: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TRL (SFTTrainer)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Оптимизатор: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paged_adamw_8bit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LR: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2×10⁻⁴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Эпохи: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 (early stopping patience=2)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Batch: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 + градиентная аккумуляция 16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~1.8–2.1 к концу обучения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Задача: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аннотация текста (вставка тегов)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Формат: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чат-диалог (system/user/assistant)</a:t>
            </a:r>
            <a:endParaRPr b="0" i="0" sz="1600" u="none" cap="none" strike="noStrike"/>
          </a:p>
        </p:txBody>
      </p:sp>
      <p:sp>
        <p:nvSpPr>
          <p:cNvPr id="278" name="Google Shape;278;p14"/>
          <p:cNvSpPr/>
          <p:nvPr/>
        </p:nvSpPr>
        <p:spPr>
          <a:xfrm>
            <a:off x="508000" y="7188200"/>
            <a:ext cx="15240000" cy="889000"/>
          </a:xfrm>
          <a:prstGeom prst="roundRect">
            <a:avLst>
              <a:gd fmla="val 400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1219200" y="7289800"/>
            <a:ext cx="1427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Ограничение:</a:t>
            </a: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процесс занимал ~11.5 ГБ VRAM из 14.5 ГБ, что привело к OOM на этапе валидации. Обучение завершилось успешно, сохраненные чекпоинты позволили провести инференс.</a:t>
            </a:r>
            <a:endParaRPr b="0" i="0" sz="1600" u="none" cap="none" strike="noStrike"/>
          </a:p>
        </p:txBody>
      </p:sp>
      <p:sp>
        <p:nvSpPr>
          <p:cNvPr id="280" name="Google Shape;280;p14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275" y="2159862"/>
            <a:ext cx="8593750" cy="48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Сравнение</a:t>
            </a:r>
            <a:endParaRPr b="0" i="0" sz="1600" u="none" cap="none" strike="noStrike"/>
          </a:p>
        </p:txBody>
      </p:sp>
      <p:sp>
        <p:nvSpPr>
          <p:cNvPr id="295" name="Google Shape;295;p16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Сравнение потребления VRAM</a:t>
            </a:r>
            <a:endParaRPr b="0" i="0" sz="2600" u="none" cap="none" strike="noStrike"/>
          </a:p>
        </p:txBody>
      </p:sp>
      <p:sp>
        <p:nvSpPr>
          <p:cNvPr id="296" name="Google Shape;296;p16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00" y="1143000"/>
            <a:ext cx="8890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/>
          <p:nvPr/>
        </p:nvSpPr>
        <p:spPr>
          <a:xfrm>
            <a:off x="10160000" y="1143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Ключевые метрики</a:t>
            </a:r>
            <a:endParaRPr b="0" i="0" sz="1600" u="none" cap="none" strike="noStrike"/>
          </a:p>
        </p:txBody>
      </p:sp>
      <p:sp>
        <p:nvSpPr>
          <p:cNvPr id="299" name="Google Shape;299;p16"/>
          <p:cNvSpPr/>
          <p:nvPr/>
        </p:nvSpPr>
        <p:spPr>
          <a:xfrm>
            <a:off x="10160000" y="1549400"/>
            <a:ext cx="3810000" cy="25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10160000" y="1778000"/>
            <a:ext cx="5588000" cy="2032000"/>
          </a:xfrm>
          <a:prstGeom prst="roundRect">
            <a:avLst>
              <a:gd fmla="val 4000" name="adj"/>
            </a:avLst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10414000" y="1879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SLM + LoRA</a:t>
            </a:r>
            <a:endParaRPr b="0" i="0" sz="1600" u="none" cap="none" strike="noStrike"/>
          </a:p>
        </p:txBody>
      </p:sp>
      <p:sp>
        <p:nvSpPr>
          <p:cNvPr id="302" name="Google Shape;302;p16"/>
          <p:cNvSpPr/>
          <p:nvPr/>
        </p:nvSpPr>
        <p:spPr>
          <a:xfrm>
            <a:off x="10414000" y="22352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3.5 ГБ</a:t>
            </a:r>
            <a:endParaRPr b="0" i="0" sz="1600" u="none" cap="none" strike="noStrike"/>
          </a:p>
        </p:txBody>
      </p:sp>
      <p:sp>
        <p:nvSpPr>
          <p:cNvPr id="303" name="Google Shape;303;p16"/>
          <p:cNvSpPr/>
          <p:nvPr/>
        </p:nvSpPr>
        <p:spPr>
          <a:xfrm>
            <a:off x="10414000" y="2946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~30 мин обучения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Возможен CPU-инференс</a:t>
            </a:r>
            <a:endParaRPr b="0" i="0" sz="1600" u="none" cap="none" strike="noStrike"/>
          </a:p>
        </p:txBody>
      </p:sp>
      <p:sp>
        <p:nvSpPr>
          <p:cNvPr id="304" name="Google Shape;304;p16"/>
          <p:cNvSpPr/>
          <p:nvPr/>
        </p:nvSpPr>
        <p:spPr>
          <a:xfrm>
            <a:off x="10160000" y="4064000"/>
            <a:ext cx="5588000" cy="2032000"/>
          </a:xfrm>
          <a:prstGeom prst="roundRect">
            <a:avLst>
              <a:gd fmla="val 4000" name="adj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10414000" y="4165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Qwen + QLoRA</a:t>
            </a:r>
            <a:endParaRPr b="0" i="0" sz="1600" u="none" cap="none" strike="noStrike"/>
          </a:p>
        </p:txBody>
      </p:sp>
      <p:sp>
        <p:nvSpPr>
          <p:cNvPr id="306" name="Google Shape;306;p16"/>
          <p:cNvSpPr/>
          <p:nvPr/>
        </p:nvSpPr>
        <p:spPr>
          <a:xfrm>
            <a:off x="10414000" y="45212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ГБ</a:t>
            </a:r>
            <a:endParaRPr b="0" i="0" sz="1600" u="none" cap="none" strike="noStrike"/>
          </a:p>
        </p:txBody>
      </p:sp>
      <p:sp>
        <p:nvSpPr>
          <p:cNvPr id="307" name="Google Shape;307;p16"/>
          <p:cNvSpPr/>
          <p:nvPr/>
        </p:nvSpPr>
        <p:spPr>
          <a:xfrm>
            <a:off x="10414000" y="5232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~2.5–3 часа обучения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Требуется GPU ≥12 ГБ VRAM</a:t>
            </a:r>
            <a:endParaRPr b="0" i="0" sz="1600" u="none" cap="none" strike="noStrike"/>
          </a:p>
        </p:txBody>
      </p:sp>
      <p:sp>
        <p:nvSpPr>
          <p:cNvPr id="308" name="Google Shape;308;p16"/>
          <p:cNvSpPr/>
          <p:nvPr/>
        </p:nvSpPr>
        <p:spPr>
          <a:xfrm>
            <a:off x="508000" y="6858000"/>
            <a:ext cx="15240000" cy="1270000"/>
          </a:xfrm>
          <a:prstGeom prst="roundRect">
            <a:avLst>
              <a:gd fmla="val 4000" name="adj"/>
            </a:avLst>
          </a:prstGeom>
          <a:solidFill>
            <a:srgbClr val="E3F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762000" y="6985000"/>
            <a:ext cx="147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Вывод:</a:t>
            </a:r>
            <a:r>
              <a:rPr b="0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SLM требует в </a:t>
            </a: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1" lang="en-US" sz="16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раза меньше VRAM</a:t>
            </a:r>
            <a:r>
              <a:rPr b="0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при обучении. Разработанная система демонстрирует высокую ресурсную эффективность и возможность локального развертывания без мощного оборудования. Время генерации одной сказки: SLM — </a:t>
            </a: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&lt;1 сек</a:t>
            </a:r>
            <a:r>
              <a:rPr b="0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Qwen — 60–300 сек.</a:t>
            </a:r>
            <a:endParaRPr b="0" i="0" sz="1600" u="none" cap="none" strike="noStrike"/>
          </a:p>
        </p:txBody>
      </p:sp>
      <p:sp>
        <p:nvSpPr>
          <p:cNvPr id="310" name="Google Shape;310;p1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Сравнение</a:t>
            </a:r>
            <a:endParaRPr b="0" i="0" sz="1600" u="none" cap="none" strike="noStrike"/>
          </a:p>
        </p:txBody>
      </p:sp>
      <p:sp>
        <p:nvSpPr>
          <p:cNvPr id="319" name="Google Shape;319;p17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Сравнительный анализ SLM и LLM подходов</a:t>
            </a:r>
            <a:endParaRPr b="0" i="0" sz="2600" u="none" cap="none" strike="noStrike"/>
          </a:p>
        </p:txBody>
      </p:sp>
      <p:sp>
        <p:nvSpPr>
          <p:cNvPr id="320" name="Google Shape;320;p17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1" name="Google Shape;321;p17"/>
          <p:cNvGraphicFramePr/>
          <p:nvPr/>
        </p:nvGraphicFramePr>
        <p:xfrm>
          <a:off x="5080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{02A92C0C-5A13-438B-BEC9-0930A9281948}</a:tableStyleId>
              </a:tblPr>
              <a:tblGrid>
                <a:gridCol w="4267200"/>
                <a:gridCol w="5486400"/>
                <a:gridCol w="5486400"/>
              </a:tblGrid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Параметр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SLM + LoRA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Qwen2.5-7B + QLoRA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A7A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Количество параметров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~124M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~7.78B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Обучаемые параметры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~393K (~0.3%)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~161.5M (~2.08%)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LoRA Rank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Потребление VRAM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~3.5 ГБ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8B3A3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~11.5–12.5 ГБ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Время обучения (T4)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~60ч </a:t>
                      </a:r>
                      <a:r>
                        <a:rPr lang="en-US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базового обучения + </a:t>
                      </a: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мин Lora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~2.5–3 часа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Работа на CPU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Возможен (~250 МБ)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8B3A3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Требуется GPU ≥12 ГБ VRAM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Лингвистическое качество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Среднее, шаблонные конструкции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Высокое, разнообразная лексика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Контроль структуры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Средний </a:t>
                      </a: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(при поэтапной генерации)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Высокий 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Повторы / зацикливания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Устранены штрафом в loss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C2C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Минимальный риск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p17"/>
          <p:cNvSpPr/>
          <p:nvPr/>
        </p:nvSpPr>
        <p:spPr>
          <a:xfrm>
            <a:off x="508000" y="62992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Анализ результатов</a:t>
            </a:r>
            <a:endParaRPr b="0" i="0" sz="1600" u="none" cap="none" strike="noStrike"/>
          </a:p>
        </p:txBody>
      </p:sp>
      <p:sp>
        <p:nvSpPr>
          <p:cNvPr id="323" name="Google Shape;323;p17"/>
          <p:cNvSpPr/>
          <p:nvPr/>
        </p:nvSpPr>
        <p:spPr>
          <a:xfrm>
            <a:off x="508000" y="6705600"/>
            <a:ext cx="3810000" cy="25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508000" y="6883400"/>
            <a:ext cx="15240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SLM выигрывает в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ресурсной эффективности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и предсказуемости структуры при жестком внешнем контроле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LLM обеспечивает превосходное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качество языка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и глубину контекста, но требует значительных вычислительных мощностей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Для узкоспециализированных задач генерации </a:t>
            </a:r>
            <a:r>
              <a:rPr b="1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малые модели с правильным пайплайном обучения</a:t>
            </a: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могут быть эффективнее универсальных LLM</a:t>
            </a:r>
            <a:endParaRPr b="0" i="0" sz="1600" u="none" cap="none" strike="noStrike"/>
          </a:p>
        </p:txBody>
      </p:sp>
      <p:sp>
        <p:nvSpPr>
          <p:cNvPr id="325" name="Google Shape;325;p1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Результаты</a:t>
            </a:r>
            <a:endParaRPr b="0" i="0" sz="1600" u="none" cap="none" strike="noStrike"/>
          </a:p>
        </p:txBody>
      </p:sp>
      <p:sp>
        <p:nvSpPr>
          <p:cNvPr id="334" name="Google Shape;334;p18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Итоги</a:t>
            </a:r>
            <a:endParaRPr b="0" i="0" sz="2600" u="none" cap="none" strike="noStrike"/>
          </a:p>
        </p:txBody>
      </p:sp>
      <p:sp>
        <p:nvSpPr>
          <p:cNvPr id="335" name="Google Shape;335;p18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508000" y="1168400"/>
            <a:ext cx="558800" cy="558800"/>
          </a:xfrm>
          <a:prstGeom prst="ellipse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508000" y="1168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38" name="Google Shape;338;p18"/>
          <p:cNvSpPr/>
          <p:nvPr/>
        </p:nvSpPr>
        <p:spPr>
          <a:xfrm>
            <a:off x="1270000" y="1168400"/>
            <a:ext cx="1447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Формализованная схема разметки Hero Journey</a:t>
            </a:r>
            <a:endParaRPr b="0" i="0" sz="1600" u="none" cap="none" strike="noStrike"/>
          </a:p>
        </p:txBody>
      </p:sp>
      <p:sp>
        <p:nvSpPr>
          <p:cNvPr id="339" name="Google Shape;339;p18"/>
          <p:cNvSpPr/>
          <p:nvPr/>
        </p:nvSpPr>
        <p:spPr>
          <a:xfrm>
            <a:off x="1270000" y="1549400"/>
            <a:ext cx="1447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Разработана схема переноса 17 этапов теории Кэмпбелла на сказочный нарратив с введением явных структурных тегов, переводящая абстрактную нарратологическую модель в машинно-читаемый формат.</a:t>
            </a:r>
            <a:endParaRPr b="0" i="0" sz="1600" u="none" cap="none" strike="noStrike"/>
          </a:p>
        </p:txBody>
      </p:sp>
      <p:sp>
        <p:nvSpPr>
          <p:cNvPr id="340" name="Google Shape;340;p18"/>
          <p:cNvSpPr/>
          <p:nvPr/>
        </p:nvSpPr>
        <p:spPr>
          <a:xfrm>
            <a:off x="508000" y="22606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508000" y="2463800"/>
            <a:ext cx="558800" cy="5588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508000" y="24638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43" name="Google Shape;343;p18"/>
          <p:cNvSpPr/>
          <p:nvPr/>
        </p:nvSpPr>
        <p:spPr>
          <a:xfrm>
            <a:off x="1270000" y="2463800"/>
            <a:ext cx="1447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Кастомный LoRA через parametrization API</a:t>
            </a:r>
            <a:endParaRPr b="0" i="0" sz="1600" u="none" cap="none" strike="noStrike"/>
          </a:p>
        </p:txBody>
      </p:sp>
      <p:sp>
        <p:nvSpPr>
          <p:cNvPr id="344" name="Google Shape;344;p18"/>
          <p:cNvSpPr/>
          <p:nvPr/>
        </p:nvSpPr>
        <p:spPr>
          <a:xfrm>
            <a:off x="1270000" y="2844800"/>
            <a:ext cx="1447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Реализован механизм Low-Rank Adaptation через torch.nn.utils.parametrize с динамическим включением/отключением адаптеров и сокращением обучаемых параметров до ~0.5M (&lt;1% от 124M).</a:t>
            </a:r>
            <a:endParaRPr b="0" i="0" sz="1600" u="none" cap="none" strike="noStrike"/>
          </a:p>
        </p:txBody>
      </p:sp>
      <p:sp>
        <p:nvSpPr>
          <p:cNvPr id="345" name="Google Shape;345;p18"/>
          <p:cNvSpPr/>
          <p:nvPr/>
        </p:nvSpPr>
        <p:spPr>
          <a:xfrm>
            <a:off x="508000" y="35560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508000" y="3759200"/>
            <a:ext cx="558800" cy="5588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508000" y="3759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48" name="Google Shape;348;p18"/>
          <p:cNvSpPr/>
          <p:nvPr/>
        </p:nvSpPr>
        <p:spPr>
          <a:xfrm>
            <a:off x="1270000" y="3759200"/>
            <a:ext cx="1447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Repetition Penalty Loss</a:t>
            </a:r>
            <a:endParaRPr b="0" i="0" sz="1600" u="none" cap="none" strike="noStrike"/>
          </a:p>
        </p:txBody>
      </p:sp>
      <p:sp>
        <p:nvSpPr>
          <p:cNvPr id="349" name="Google Shape;349;p18"/>
          <p:cNvSpPr/>
          <p:nvPr/>
        </p:nvSpPr>
        <p:spPr>
          <a:xfrm>
            <a:off x="1270000" y="4140200"/>
            <a:ext cx="1447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Предложена модифицированная функция потерь со штрафом за повторения в скользящем окне 25 токенов (λ=2), эффективно снижающая зацикливание без нарушения естественности языковых паттернов.</a:t>
            </a:r>
            <a:endParaRPr b="0" i="0" sz="1600" u="none" cap="none" strike="noStrike"/>
          </a:p>
        </p:txBody>
      </p:sp>
      <p:sp>
        <p:nvSpPr>
          <p:cNvPr id="350" name="Google Shape;350;p18"/>
          <p:cNvSpPr/>
          <p:nvPr/>
        </p:nvSpPr>
        <p:spPr>
          <a:xfrm>
            <a:off x="508000" y="48514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508000" y="5054600"/>
            <a:ext cx="558800" cy="558800"/>
          </a:xfrm>
          <a:prstGeom prst="ellipse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508000" y="50546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353" name="Google Shape;353;p18"/>
          <p:cNvSpPr/>
          <p:nvPr/>
        </p:nvSpPr>
        <p:spPr>
          <a:xfrm>
            <a:off x="1270000" y="5054600"/>
            <a:ext cx="1447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Алгоритм поэтапной генерации</a:t>
            </a:r>
            <a:endParaRPr b="0" i="0" sz="1600" u="none" cap="none" strike="noStrike"/>
          </a:p>
        </p:txBody>
      </p:sp>
      <p:sp>
        <p:nvSpPr>
          <p:cNvPr id="354" name="Google Shape;354;p18"/>
          <p:cNvSpPr/>
          <p:nvPr/>
        </p:nvSpPr>
        <p:spPr>
          <a:xfrm>
            <a:off x="1270000" y="5435600"/>
            <a:ext cx="1447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Разработан детерминированный алгоритм generate_campbell_story с жестким структурным контролем, превращающий генерацию из стохастического процесса в контролируемый конвейер прохождения этапов мономифа.</a:t>
            </a:r>
            <a:endParaRPr b="0" i="0" sz="1600" u="none" cap="none" strike="noStrike"/>
          </a:p>
        </p:txBody>
      </p:sp>
      <p:sp>
        <p:nvSpPr>
          <p:cNvPr id="355" name="Google Shape;355;p18"/>
          <p:cNvSpPr/>
          <p:nvPr/>
        </p:nvSpPr>
        <p:spPr>
          <a:xfrm>
            <a:off x="508000" y="6146800"/>
            <a:ext cx="15240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508000" y="6350000"/>
            <a:ext cx="558800" cy="5588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508000" y="635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358" name="Google Shape;358;p18"/>
          <p:cNvSpPr/>
          <p:nvPr/>
        </p:nvSpPr>
        <p:spPr>
          <a:xfrm>
            <a:off x="1270000" y="6350000"/>
            <a:ext cx="1447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Сравнение SLM и QLoRA-подходов</a:t>
            </a:r>
            <a:endParaRPr b="0" i="0" sz="1600" u="none" cap="none" strike="noStrike"/>
          </a:p>
        </p:txBody>
      </p:sp>
      <p:sp>
        <p:nvSpPr>
          <p:cNvPr id="359" name="Google Shape;359;p18"/>
          <p:cNvSpPr/>
          <p:nvPr/>
        </p:nvSpPr>
        <p:spPr>
          <a:xfrm>
            <a:off x="1270000" y="6731000"/>
            <a:ext cx="14478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Проведено эмпирическое сравнение подходов на едином корпусе данных, подтвердившее гипотезу о преимуществе SLM по ресурсной эффективности и структурной предсказуемости в условиях ограниченных ресурсов.</a:t>
            </a:r>
            <a:endParaRPr b="0" i="0" sz="1600" u="none" cap="none" strike="noStrike"/>
          </a:p>
        </p:txBody>
      </p:sp>
      <p:sp>
        <p:nvSpPr>
          <p:cNvPr id="360" name="Google Shape;360;p18"/>
          <p:cNvSpPr/>
          <p:nvPr/>
        </p:nvSpPr>
        <p:spPr>
          <a:xfrm>
            <a:off x="508000" y="7620000"/>
            <a:ext cx="15240000" cy="762000"/>
          </a:xfrm>
          <a:prstGeom prst="roundRect">
            <a:avLst>
              <a:gd fmla="val 4000" name="adj"/>
            </a:avLst>
          </a:prstGeom>
          <a:solidFill>
            <a:srgbClr val="E3F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762000" y="7620000"/>
            <a:ext cx="1473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Научная значимость:</a:t>
            </a:r>
            <a:r>
              <a:rPr b="0" i="0" lang="en-US" sz="15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расширение представлений о возможностях контролируемой генерации малых языковых моделей и создание методического моста между компьютерной лингвистикой и нарратологией.</a:t>
            </a:r>
            <a:endParaRPr b="0" i="0" sz="1600" u="none" cap="none" strike="noStrike"/>
          </a:p>
        </p:txBody>
      </p:sp>
      <p:sp>
        <p:nvSpPr>
          <p:cNvPr id="362" name="Google Shape;362;p1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/>
          <p:nvPr/>
        </p:nvSpPr>
        <p:spPr>
          <a:xfrm>
            <a:off x="170075" y="0"/>
            <a:ext cx="76200" cy="9144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170075" y="5588000"/>
            <a:ext cx="16256100" cy="35559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1186075" y="762000"/>
            <a:ext cx="13970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Заключение</a:t>
            </a:r>
            <a:endParaRPr b="0" i="0" sz="1600" u="none" cap="none" strike="noStrike"/>
          </a:p>
        </p:txBody>
      </p:sp>
      <p:sp>
        <p:nvSpPr>
          <p:cNvPr id="371" name="Google Shape;371;p19"/>
          <p:cNvSpPr/>
          <p:nvPr/>
        </p:nvSpPr>
        <p:spPr>
          <a:xfrm>
            <a:off x="1186075" y="1600200"/>
            <a:ext cx="11430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372" name="Google Shape;372;p19"/>
          <p:cNvSpPr/>
          <p:nvPr/>
        </p:nvSpPr>
        <p:spPr>
          <a:xfrm>
            <a:off x="1186075" y="2057400"/>
            <a:ext cx="14223900" cy="12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652625" y="2311300"/>
            <a:ext cx="4826100" cy="29211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906725" y="2418875"/>
            <a:ext cx="431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Разработка модели</a:t>
            </a:r>
            <a:endParaRPr b="0" i="0" sz="1600" u="none" cap="none" strike="noStrike"/>
          </a:p>
        </p:txBody>
      </p:sp>
      <p:sp>
        <p:nvSpPr>
          <p:cNvPr id="375" name="Google Shape;375;p19"/>
          <p:cNvSpPr/>
          <p:nvPr/>
        </p:nvSpPr>
        <p:spPr>
          <a:xfrm>
            <a:off x="906725" y="2921050"/>
            <a:ext cx="4317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SLM на базе GPT-2 Small (124M параметров)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LoRA pipeline с кастомной параметризацией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~0.5M обучаемых параметров (&lt;1%)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CPU-инференс, генерация &lt;1 сек</a:t>
            </a:r>
            <a:endParaRPr b="0" i="0" sz="1600" u="none" cap="none" strike="noStrike"/>
          </a:p>
        </p:txBody>
      </p:sp>
      <p:sp>
        <p:nvSpPr>
          <p:cNvPr id="376" name="Google Shape;376;p19"/>
          <p:cNvSpPr/>
          <p:nvPr/>
        </p:nvSpPr>
        <p:spPr>
          <a:xfrm>
            <a:off x="5885075" y="2311400"/>
            <a:ext cx="4826100" cy="29211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6126450" y="2418875"/>
            <a:ext cx="431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Структурный контроль</a:t>
            </a:r>
            <a:endParaRPr b="0" i="0" sz="1600" u="none" cap="none" strike="noStrike"/>
          </a:p>
        </p:txBody>
      </p:sp>
      <p:sp>
        <p:nvSpPr>
          <p:cNvPr id="378" name="Google Shape;378;p19"/>
          <p:cNvSpPr/>
          <p:nvPr/>
        </p:nvSpPr>
        <p:spPr>
          <a:xfrm>
            <a:off x="6126450" y="2921050"/>
            <a:ext cx="4317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17 этапов мономифа Кэмпбелла в тегах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Поэтапная генерация 7–9 этапов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Repetition penalty loss (λ=2)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Стабильное следование структуре</a:t>
            </a:r>
            <a:endParaRPr b="0" i="0" sz="1600" u="none" cap="none" strike="noStrike"/>
          </a:p>
        </p:txBody>
      </p:sp>
      <p:sp>
        <p:nvSpPr>
          <p:cNvPr id="379" name="Google Shape;379;p19"/>
          <p:cNvSpPr/>
          <p:nvPr/>
        </p:nvSpPr>
        <p:spPr>
          <a:xfrm>
            <a:off x="11117525" y="2311300"/>
            <a:ext cx="4826100" cy="29211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11371625" y="2418875"/>
            <a:ext cx="431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Сравнительный анализ</a:t>
            </a:r>
            <a:endParaRPr b="0" i="0" sz="1600" u="none" cap="none" strike="noStrike"/>
          </a:p>
        </p:txBody>
      </p:sp>
      <p:sp>
        <p:nvSpPr>
          <p:cNvPr id="381" name="Google Shape;381;p19"/>
          <p:cNvSpPr/>
          <p:nvPr/>
        </p:nvSpPr>
        <p:spPr>
          <a:xfrm>
            <a:off x="11371625" y="2921050"/>
            <a:ext cx="4317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SLM: 3.5 ГБ VRAM vs Qwen: 12 ГБ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В 3.</a:t>
            </a:r>
            <a:r>
              <a:rPr lang="en-US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раза меньше ресурсов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Высокая структурная предсказуемость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Доказана эффективность SLM-подхода</a:t>
            </a:r>
            <a:endParaRPr b="0" i="0" sz="1600" u="none" cap="none" strike="noStrike"/>
          </a:p>
        </p:txBody>
      </p:sp>
      <p:sp>
        <p:nvSpPr>
          <p:cNvPr id="382" name="Google Shape;382;p19"/>
          <p:cNvSpPr/>
          <p:nvPr/>
        </p:nvSpPr>
        <p:spPr>
          <a:xfrm>
            <a:off x="1186075" y="59690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Спасибо за внимание</a:t>
            </a:r>
            <a:endParaRPr b="0" i="0" sz="1600" u="none" cap="none" strike="noStrike"/>
          </a:p>
        </p:txBody>
      </p:sp>
      <p:sp>
        <p:nvSpPr>
          <p:cNvPr id="383" name="Google Shape;383;p19"/>
          <p:cNvSpPr/>
          <p:nvPr/>
        </p:nvSpPr>
        <p:spPr>
          <a:xfrm>
            <a:off x="1186075" y="6731000"/>
            <a:ext cx="10160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Готов ответить на ваши вопросы</a:t>
            </a:r>
            <a:endParaRPr b="0" i="0" sz="1600" u="none" cap="none" strike="noStrike"/>
          </a:p>
        </p:txBody>
      </p:sp>
      <p:sp>
        <p:nvSpPr>
          <p:cNvPr id="384" name="Google Shape;384;p19"/>
          <p:cNvSpPr/>
          <p:nvPr/>
        </p:nvSpPr>
        <p:spPr>
          <a:xfrm>
            <a:off x="1186075" y="73660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Маковеев Н.</a:t>
            </a:r>
            <a:r>
              <a:rPr lang="en-US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385" name="Google Shape;385;p19"/>
          <p:cNvSpPr/>
          <p:nvPr/>
        </p:nvSpPr>
        <p:spPr>
          <a:xfrm>
            <a:off x="15410075" y="8636000"/>
            <a:ext cx="63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